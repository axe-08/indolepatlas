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Classification of Indian Lepidoptera 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Fine-Grained Butterfly Recognition Under Domain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CF0F1"/>
                </a:solidFill>
              </a:defRPr>
            </a:pPr>
            <a:r>
              <a:t>Akshit Bansal  •  Jayendra Singh  •  Kriti Chaturvedi  •  Sirjan Singh  •  Priyal Maheswari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Deep Learning for Computer Vision (CSE3292)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Why This Problem Is Hard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India hosts 1,500+ Lepidoptera species — one of the world's richest biodiversity hotspots.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E74C3C"/>
                </a:solidFill>
              </a:defRPr>
            </a:pPr>
            <a:r>
              <a:t>Three structural challenges: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1. Spatial specificity — where a wing pattern is located matters taxonomically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  (eyespot on forewing vs hindwing = different genus)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2. Multi-scale dependence — submarginal bands (low-level) + wing shape (high-level)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r>
              <a:t>3. Extreme class imbalance — 966 classes, from &gt;500 to &lt;5 images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2000" b="1">
                <a:solidFill>
                  <a:srgbClr val="E74C3C"/>
                </a:solidFill>
              </a:defRPr>
            </a:pPr>
            <a:r>
              <a:t>Head-Only accuracy = 53.20%</a:t>
            </a:r>
          </a:p>
          <a:p>
            <a:pPr>
              <a:spcBef>
                <a:spcPts val="600"/>
              </a:spcBef>
              <a:defRPr sz="1600" b="0">
                <a:solidFill>
                  <a:srgbClr val="7F8C8D"/>
                </a:solidFill>
              </a:defRPr>
            </a:pPr>
            <a:r>
              <a:t>"ImageNet features are blind to wing morphology"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Dataset — IndoLepAtlas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Sources: indiabutterflies.com + iNaturalist India (GBIF)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Pipeline: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Web scraping → metadata extraction (GPS, date)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→ state-to-biogeographic zone mapping → data_audit.py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Final Statistics: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24,825 images across 966 species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34 Indian states, 9 biogeographic zones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Dense (≥50 img/class) vs Sparse (&lt;50 img/class)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• Metadata: 98.3% location, 76.1% date coverage</a:t>
            </a:r>
          </a:p>
        </p:txBody>
      </p:sp>
      <p:pic>
        <p:nvPicPr>
          <p:cNvPr id="5" name="Picture 4" descr="stratu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029200" cy="2128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Architecture — Progressive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</a:defRPr>
            </a:pPr>
            <a:r>
              <a:t>Input → ConvNeXt-Tiny (4 stages) → [CA ×4] → [MLFI → 1440-dim] → LN+Dropout+Linear → 966 logits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Phase 1: Backbone only (768-dim)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Standard ConvNeXt-Tiny with GAP + linear head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Phase 2: + Coordinate Attention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CA after each of 4 stages — preserves spatial info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Phase 3: + CA + MLFI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Multi-level fusion: 192+384+96+768 = 1,440-dim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Adds ~12M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E74C3C"/>
                </a:solidFill>
              </a:defRPr>
            </a:pPr>
            <a:r>
              <a:t>Training: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AdamW, cosine annealing, 5-epoch warmup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Differential LR: backbone 0.1×, heads 1×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3AC6E7-5447-2F37-1C86-018B01E1D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5123"/>
          <a:stretch>
            <a:fillRect/>
          </a:stretch>
        </p:blipFill>
        <p:spPr>
          <a:xfrm>
            <a:off x="5989320" y="2056951"/>
            <a:ext cx="5576827" cy="4298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 — Loss &amp; Sampling Strategy (30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 + Balanced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87.06%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85.48%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87.67%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85.84%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 + Unbalanced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87.60%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97.25%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80.23%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91.22%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80.35%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Focal + Balanced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82.69%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96.62%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82.64%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86.40%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Focal + Unbalanced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84.83%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97.03%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82.70%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85.70%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83.07%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CE+Unbalanced: highest Top-1 but 5.25-pt Macro-F1 gap → "Unbalanced Illusion"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Focal Loss boosts Sparse (86.40%) but destroys Dense (80.85%)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Balanced sampling compresses Dense–Sparse gap to 1.83 points</a:t>
            </a:r>
          </a:p>
        </p:txBody>
      </p:sp>
      <p:pic>
        <p:nvPicPr>
          <p:cNvPr id="6" name="Picture 5" descr="unit1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019" y="3429000"/>
            <a:ext cx="4754880" cy="2829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Why Coordinate Attention?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SE-Net Problem: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Global avg pool → collapses all spatial dims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→ loses WHERE the pattern is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1ABC9C"/>
                </a:solidFill>
              </a:defRPr>
            </a:pPr>
            <a:r>
              <a:t>Coordinate Attention Solution: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  Axis-decomposed attention along H and W independently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• Pool along width → height attention map</a:t>
            </a:r>
          </a:p>
          <a:p>
            <a:pPr>
              <a:spcBef>
                <a:spcPts val="600"/>
              </a:spcBef>
              <a:defRPr sz="1300" b="0">
                <a:solidFill>
                  <a:srgbClr val="7F8C8D"/>
                </a:solidFill>
              </a:defRPr>
            </a:pPr>
            <a:r>
              <a:t>    (captures horizontal wing banding)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  • Pool along height → width attention map</a:t>
            </a:r>
          </a:p>
          <a:p>
            <a:pPr>
              <a:spcBef>
                <a:spcPts val="600"/>
              </a:spcBef>
              <a:defRPr sz="1300" b="0">
                <a:solidFill>
                  <a:srgbClr val="7F8C8D"/>
                </a:solidFill>
              </a:defRPr>
            </a:pPr>
            <a:r>
              <a:t>    (captures vertical vein streaking)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Placement: After each of 4 backbone stages</a:t>
            </a:r>
          </a:p>
          <a:p>
            <a:pPr>
              <a:spcBef>
                <a:spcPts val="600"/>
              </a:spcBef>
              <a:defRPr sz="1500" b="0">
                <a:solidFill>
                  <a:srgbClr val="2C3E50"/>
                </a:solidFill>
              </a:defRPr>
            </a:pPr>
            <a:r>
              <a:t>Overhead: &lt;0.5% added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E74C3C"/>
                </a:solidFill>
              </a:defRPr>
            </a:pPr>
            <a:r>
              <a:t>Result: Sparse accuracy 86.76% → 88.05% (+1.29 pts)</a:t>
            </a:r>
          </a:p>
        </p:txBody>
      </p:sp>
      <p:pic>
        <p:nvPicPr>
          <p:cNvPr id="5" name="Picture 4" descr="unit2_phase2_metric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II — Feature Fusion Ablation (40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07482"/>
              </p:ext>
            </p:extLst>
          </p:nvPr>
        </p:nvGraphicFramePr>
        <p:xfrm>
          <a:off x="432471" y="1371600"/>
          <a:ext cx="6766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1 (Baseline)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85.65%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86.36%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2 (+ CA)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86.77%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97.36%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85.75%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86.13%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Phase 3 (+ CA+MLFI)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84.43%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83.34%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86.66%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CA: best overall — 86.77% Top-1, 88.05% Sparse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MLFI adds ~12M params → optimisation imbalance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MLFI Sparse (86.66%) still strong — benefits rare classes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2-point gap is convergence, not architecture problem</a:t>
            </a:r>
          </a:p>
        </p:txBody>
      </p:sp>
      <p:pic>
        <p:nvPicPr>
          <p:cNvPr id="6" name="Picture 5" descr="unit2_training_curves.png"/>
          <p:cNvPicPr>
            <a:picLocks noChangeAspect="1"/>
          </p:cNvPicPr>
          <p:nvPr/>
        </p:nvPicPr>
        <p:blipFill>
          <a:blip r:embed="rId2"/>
          <a:srcRect r="50617"/>
          <a:stretch>
            <a:fillRect/>
          </a:stretch>
        </p:blipFill>
        <p:spPr>
          <a:xfrm>
            <a:off x="2641696" y="4864662"/>
            <a:ext cx="2348110" cy="166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BA6B3-75F9-FAB6-0FA3-175051C2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184" y="1913914"/>
            <a:ext cx="4198039" cy="2780520"/>
          </a:xfrm>
          <a:prstGeom prst="rect">
            <a:avLst/>
          </a:prstGeom>
        </p:spPr>
      </p:pic>
      <p:pic>
        <p:nvPicPr>
          <p:cNvPr id="9" name="Picture 8" descr="unit2_training_curves.png">
            <a:extLst>
              <a:ext uri="{FF2B5EF4-FFF2-40B4-BE49-F238E27FC236}">
                <a16:creationId xmlns:a16="http://schemas.microsoft.com/office/drawing/2014/main" id="{4FD84B45-840B-D12E-CC6F-2FB8E575F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02"/>
          <a:stretch>
            <a:fillRect/>
          </a:stretch>
        </p:blipFill>
        <p:spPr>
          <a:xfrm>
            <a:off x="5266788" y="4864662"/>
            <a:ext cx="2415396" cy="166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Unit III — Transfer Learning &amp; Domain Shift (40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End-to-End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84.79%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96.68%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84.11%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83.89%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86.61%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Freeze Late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84.33%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96.93%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84.02%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83.15%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86.71%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Freeze Early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83.77%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96.91%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83.20%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82.74%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85.84%</a:t>
                      </a:r>
                    </a:p>
                  </a:txBody>
                  <a:tcPr>
                    <a:solidFill>
                      <a:srgbClr val="F5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Head Only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53.20%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82.52%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57.02%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44.46%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70.75%</a:t>
                      </a:r>
                    </a:p>
                  </a:txBody>
                  <a:tcPr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Key Insights: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Head-Only = catastrophic failure (53.20%)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Dense (44.46%) &lt; Sparse (70.75%) — striking inversion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ImageNet features actively INTERFERE with classification</a:t>
            </a:r>
          </a:p>
          <a:p>
            <a:pPr>
              <a:spcBef>
                <a:spcPts val="600"/>
              </a:spcBef>
              <a:defRPr sz="1400" b="0">
                <a:solidFill>
                  <a:srgbClr val="2C3E50"/>
                </a:solidFill>
              </a:defRPr>
            </a:pPr>
            <a:r>
              <a:t>• End-to-End mandatory; partial freezing marginal (Δ&lt;1%)</a:t>
            </a:r>
          </a:p>
        </p:txBody>
      </p:sp>
      <p:pic>
        <p:nvPicPr>
          <p:cNvPr id="6" name="Picture 5" descr="unit3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0694"/>
            <a:ext cx="4754880" cy="2829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Cross-Unit Analysis &amp; Master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</a:defRPr>
            </a:pPr>
            <a:r>
              <a:t>Best Configurations: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Best Overall:  CE + Balanced</a:t>
            </a:r>
          </a:p>
          <a:p>
            <a:pPr>
              <a:spcBef>
                <a:spcPts val="600"/>
              </a:spcBef>
              <a:defRPr sz="1500" b="0">
                <a:solidFill>
                  <a:srgbClr val="1ABC9C"/>
                </a:solidFill>
              </a:defRPr>
            </a:pPr>
            <a:r>
              <a:t>  87.06% Top-1  |  85.48% Macro-F1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Best Sparse:  Phase 2 (+ CA)</a:t>
            </a:r>
          </a:p>
          <a:p>
            <a:pPr>
              <a:spcBef>
                <a:spcPts val="600"/>
              </a:spcBef>
              <a:defRPr sz="1500" b="0">
                <a:solidFill>
                  <a:srgbClr val="1ABC9C"/>
                </a:solidFill>
              </a:defRPr>
            </a:pPr>
            <a:r>
              <a:t>  88.05% Sparse accuracy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Top-5 Accuracy &gt; 96.6%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for all configs except Head-Only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→ confusion is between morphologically similar species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2C3E50"/>
                </a:solidFill>
              </a:defRPr>
            </a:pPr>
            <a:r>
              <a:t>Dense–Sparse Gap:</a:t>
            </a:r>
          </a:p>
          <a:p>
            <a:pPr>
              <a:spcBef>
                <a:spcPts val="600"/>
              </a:spcBef>
              <a:defRPr sz="1500" b="0">
                <a:solidFill>
                  <a:srgbClr val="7F8C8D"/>
                </a:solidFill>
              </a:defRPr>
            </a:pPr>
            <a:r>
              <a:t>  Balanced sampling compresses it most effectively</a:t>
            </a:r>
          </a:p>
        </p:txBody>
      </p:sp>
      <p:pic>
        <p:nvPicPr>
          <p:cNvPr id="5" name="Picture 4" descr="best_mode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6644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Three Key Findings: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1. Balanced CE is the single most impactful intervention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t>   85.48% Macro-F1, 1.83-pt Dense–Sparse gap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2. Coordinate Attention is high-value, low-cost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t>   +1.29 pts Sparse accuracy, minimal parameters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3. ImageNet transfer fails for biological domains</a:t>
            </a:r>
          </a:p>
          <a:p>
            <a:pPr>
              <a:spcBef>
                <a:spcPts val="600"/>
              </a:spcBef>
              <a:defRPr sz="1400" b="0">
                <a:solidFill>
                  <a:srgbClr val="BDC3C7"/>
                </a:solidFill>
              </a:defRPr>
            </a:pPr>
            <a:r>
              <a:t>   53.20% Head-Only → end-to-end fine-tuning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Future Work: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MLFI optimisation: warm-up scheduling,</a:t>
            </a:r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  progressive unfreezing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Phase 5: Geotemporal fusion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(biogeographic zone + season encoding)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Prototypical network heads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for ~400 Sparse classes (&lt;50 images)</a:t>
            </a:r>
          </a:p>
          <a:p>
            <a:pPr>
              <a:spcBef>
                <a:spcPts val="600"/>
              </a:spcBef>
              <a:defRPr sz="16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ECF0F1"/>
                </a:solidFill>
              </a:defRPr>
            </a:pPr>
            <a:r>
              <a:t>• Domain-specific self-supervised pretraining</a:t>
            </a:r>
          </a:p>
          <a:p>
            <a:pPr>
              <a:spcBef>
                <a:spcPts val="600"/>
              </a:spcBef>
              <a:defRPr sz="1400" b="0">
                <a:solidFill>
                  <a:srgbClr val="7F8C8D"/>
                </a:solidFill>
              </a:defRPr>
            </a:pPr>
            <a:r>
              <a:t>  (DINO on butterfly images)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925</Words>
  <Application>Microsoft Office PowerPoint</Application>
  <PresentationFormat>Widescreen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Kriti Chaturvedi</cp:lastModifiedBy>
  <cp:revision>3</cp:revision>
  <dcterms:created xsi:type="dcterms:W3CDTF">2013-01-27T09:14:16Z</dcterms:created>
  <dcterms:modified xsi:type="dcterms:W3CDTF">2026-04-26T18:19:20Z</dcterms:modified>
  <cp:category/>
</cp:coreProperties>
</file>